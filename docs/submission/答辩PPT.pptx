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PrintBridge 是一个基于 Electron 的桌面应用,把数字媒体预览与印刷导向检查集成到单一工作流。本次介绍基于 codebase v1.1.1 与发布线 v1.1.0,聚焦项目定位、技术实现与课程提交要点。MIT 协议开源,欢迎评审。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接下来分六个章节展开:第一章项目概述、第二章可行性分析、第三章需求规格、第四章系统设计、第五章关键技术实现、第六章测试与发布。共 24 页,完整呈现 PrintBridge。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第一章 项目概述。先看定位、用户场景,再看技术栈全景。三页内容,奠定后续讨论基础。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PrintBridge 是"屏幕 → 印刷"之间的桥接工具,定位桌面应用 + 学习导向 + 启发式近似。强调两点:不是生产级 prepress,软打样与印前检查均为近似;DeepSeek 可选,无强制外部成本。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三类用户:学生/学习者(主)、设计入门者(轻量)、教师/讲师(演示)。知识中心 + 案例库 + 测验模块面向教学,AI 顾问面向快速上手,启发式检查面向风险意识培养。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三层技术栈:Electron 提供容器,React/TS/Vite 提供体验,chroma-js/lcms-wasm/utif 提供专业色彩能力。所有依赖 MIT/Apache,无 GPL 传染。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第二章 可行性分析。技术、经济、操作、法律、时间五维结论。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五维全部"可行"。技术可行:选型合理 + 降级完备。经济可行:零强制成本 + MIT 全栈。法律可行:无 GPL + 本地应用。时间和操作同样绿灯。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三大风险已有兜底:lcms-wasm 失败 → 简化 LAB 转换;DeepSeek 失败 → 规则建议;路径遍历 → 主进程拒绝 .. ~ $。三层降级路径保证用户主流程不中断。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第三章 需求规格。功能、非功能、用例与验收三页。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四大功能模块:F1 颜色实验室(导入·分析·软打样·导出)、F2 跨媒介预览(并排·叠加·光源·纸张)、F3 智能印前适配(分辨率·色域·出血·色彩)、F4 知识中心(案例·演示·测验)。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性能 SLA:冷启动 ≤ 5 秒,5×5 采样 ≤ 200 ms,4K 印前检查 ≤ 1 秒。可靠性:ICC/API/Worker 三层降级 + ErrorBoundary。安全:contextIsolation + 路径校验。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5 大核心用例(UC-01~05)、9 条验收准则(AC-01~09)。Baseline v1.0.0,变更走评审,版本号递增管理。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第四章 系统设计。三层架构、数据流与状态、IPC 与安全三页。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Electron 三层:Main(主进程,资源)、Preload(安全桥,API)、Renderer(渲染进程,UI + Service + Worker)。职责清晰,严格分层。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 个 Zustand store 边界清晰:project/color/theme/locale。导入数据流 User → dialog → fs.readFile → ImageData → Store。partialize 排除 imageBuffer 防 localStorage 容量爆炸。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7 条 IPC 通道,6 个最小 API。contextIsolation + nodeIntegration 双保险,主进程拒绝路径遍历。API catch 兜底,无 GPL 传染。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第五章 关键技术实现。颜色科学 + 印前检查 + AI 顾问,共两页。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RGB↔CMYK 经 LAB 中间转换,纸类型 gamut clamp,墨水限制。lcms-wasm 支持 5 个 ICC profile(sRGB/Adobe RGB/FOGRA39/FOGRA29/Japan Color 2001)。ΔE2000 用 chroma.js,ΔE&lt;3 视为色域内。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启发式检查覆盖 4 维度(分辨率·色域·出血·色彩)。评分公式 score = max(0, 100 − 30×error − 10×warning)。AI 顾问:有 apiKey 走 DeepSeek,无则规则建议,source/confidence 明示。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第六章 测试与发布。测试体系 + 发布与质量门,共两页。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60+ 单元测试覆盖 color-convert/color-engine/print-checker/image-processor/ai-color-advisor/project-session/store/hooks。3+ E2E 用例验证主流程与 Ctrl+1/2/3 快捷键。核心服务行覆盖 ≥ 80%。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electron-builder 产出 Windows portable + NSIS + macOS dmg。当前发布线 v1.1.0,codebase v1.1.1。质量门禁:lint/test/E2E/build,任一失败 → 阻断发布。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PrintBridge 介绍完毕。"From screen to press — made approachable." 联系 PrintBridge Team,github.com/Takesen317/printbridge,MIT License,2026 / 06 / 22。课程检查欢迎指正。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7620000" y="-476250"/>
            <a:ext cx="5715000" cy="3810000"/>
          </a:xfrm>
          <a:prstGeom prst="ellipse">
            <a:avLst/>
          </a:prstGeom>
          <a:gradFill>
            <a:gsLst>
              <a:gs pos="0">
                <a:srgbClr val="D97757">
                  <a:alpha val="30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-476250" y="3524250"/>
            <a:ext cx="4762500" cy="3429000"/>
          </a:xfrm>
          <a:prstGeom prst="ellipse">
            <a:avLst/>
          </a:prstGeom>
          <a:gradFill>
            <a:gsLst>
              <a:gs pos="0">
                <a:srgbClr val="4A90D9">
                  <a:alpha val="20000"/>
                </a:srgbClr>
              </a:gs>
              <a:gs pos="100000">
                <a:srgbClr val="4A90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952500" y="1587500"/>
            <a:ext cx="10477500" cy="3492500"/>
            <a:chOff x="952500" y="1587500"/>
            <a:chExt cx="10477500" cy="3492500"/>
          </a:xfrm>
        </p:grpSpPr>
        <p:sp>
          <p:nvSpPr>
            <p:cNvPr id="12" name="Freeform 12"/>
            <p:cNvSpPr/>
            <p:nvPr/>
          </p:nvSpPr>
          <p:spPr>
            <a:xfrm>
              <a:off x="952500" y="1587500"/>
              <a:ext cx="2381250" cy="508000"/>
            </a:xfrm>
            <a:custGeom>
              <a:avLst/>
              <a:gdLst/>
              <a:ahLst/>
              <a:cxnLst/>
              <a:rect l="l" t="t" r="r" b="b"/>
              <a:pathLst>
                <a:path w="2381250" h="508000">
                  <a:moveTo>
                    <a:pt x="0" y="317500"/>
                  </a:moveTo>
                  <a:cubicBezTo>
                    <a:pt x="952500" y="0"/>
                    <a:pt x="1746250" y="63500"/>
                    <a:pt x="2381250" y="5080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3750" y="1905000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190500"/>
                  </a:moveTo>
                  <a:cubicBezTo>
                    <a:pt x="635000" y="571500"/>
                    <a:pt x="1111250" y="508000"/>
                    <a:pt x="1428750" y="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572500" y="419100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cubicBezTo>
                    <a:pt x="635000" y="0"/>
                    <a:pt x="1270000" y="0"/>
                    <a:pt x="1905000" y="3810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477500" y="4572000"/>
              <a:ext cx="952500" cy="508000"/>
            </a:xfrm>
            <a:custGeom>
              <a:avLst/>
              <a:gdLst/>
              <a:ahLst/>
              <a:cxnLst/>
              <a:rect l="l" t="t" r="r" b="b"/>
              <a:pathLst>
                <a:path w="952500" h="508000">
                  <a:moveTo>
                    <a:pt x="0" y="0"/>
                  </a:moveTo>
                  <a:cubicBezTo>
                    <a:pt x="317500" y="444500"/>
                    <a:pt x="635000" y="508000"/>
                    <a:pt x="952500" y="1905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14400" y="1866900"/>
            <a:ext cx="10553700" cy="2933700"/>
            <a:chOff x="914400" y="1866900"/>
            <a:chExt cx="10553700" cy="2933700"/>
          </a:xfrm>
        </p:grpSpPr>
        <p:sp>
          <p:nvSpPr>
            <p:cNvPr id="17" name="Ellipse 17"/>
            <p:cNvSpPr/>
            <p:nvPr/>
          </p:nvSpPr>
          <p:spPr>
            <a:xfrm>
              <a:off x="914400" y="18669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276600" y="2038350"/>
              <a:ext cx="114300" cy="1143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724400" y="18669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524875" y="4524375"/>
              <a:ext cx="95250" cy="9525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410825" y="4505325"/>
              <a:ext cx="133350" cy="13335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391900" y="47244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657350" y="1095375"/>
            <a:ext cx="9344025" cy="3914775"/>
            <a:chOff x="1657350" y="1095375"/>
            <a:chExt cx="9344025" cy="3914775"/>
          </a:xfrm>
        </p:grpSpPr>
        <p:sp>
          <p:nvSpPr>
            <p:cNvPr id="24" name="Ellipse 24"/>
            <p:cNvSpPr/>
            <p:nvPr/>
          </p:nvSpPr>
          <p:spPr>
            <a:xfrm>
              <a:off x="9925050" y="1638300"/>
              <a:ext cx="152400" cy="15240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906125" y="1095375"/>
              <a:ext cx="95250" cy="9525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657350" y="4895850"/>
              <a:ext cx="114300" cy="11430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</p:grpSp>
      <p:sp>
        <p:nvSpPr>
          <p:cNvPr id="28" name="Freeform 28"/>
          <p:cNvSpPr/>
          <p:nvPr/>
        </p:nvSpPr>
        <p:spPr>
          <a:xfrm>
            <a:off x="571500" y="571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8165" y="839152"/>
            <a:ext cx="29250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PRINTBRIDGE · DESKTOP COURSE PROJECT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92385" y="2339340"/>
            <a:ext cx="420723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PrintBridge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44240" y="323469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数字媒体预览与印刷导向检查的桌面桥接应用</a:t>
            </a:r>
          </a:p>
        </p:txBody>
      </p:sp>
      <p:sp>
        <p:nvSpPr>
          <p:cNvPr id="32" name="Freeform 32"/>
          <p:cNvSpPr/>
          <p:nvPr/>
        </p:nvSpPr>
        <p:spPr>
          <a:xfrm>
            <a:off x="5143500" y="3762375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437436" y="4235768"/>
            <a:ext cx="33171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"把屏幕的颜色,稳稳地带进印刷车间"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58165" y="6363652"/>
            <a:ext cx="1054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 / 06 / 22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96322" y="6363652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v1.1.1 ·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015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AGENDA · 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27935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六大章节 · 完整呈现 PrintBridge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382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37" name="Group 37"/>
          <p:cNvGrpSpPr/>
          <p:nvPr/>
        </p:nvGrpSpPr>
        <p:grpSpPr>
          <a:xfrm>
            <a:off x="628650" y="1581150"/>
            <a:ext cx="3183636" cy="4086225"/>
            <a:chOff x="628650" y="1581150"/>
            <a:chExt cx="3183636" cy="4086225"/>
          </a:xfrm>
        </p:grpSpPr>
        <p:grpSp>
          <p:nvGrpSpPr>
            <p:cNvPr id="11" name="Group 11"/>
            <p:cNvGrpSpPr/>
            <p:nvPr/>
          </p:nvGrpSpPr>
          <p:grpSpPr>
            <a:xfrm>
              <a:off x="628650" y="1581150"/>
              <a:ext cx="2605278" cy="514350"/>
              <a:chOff x="628650" y="1581150"/>
              <a:chExt cx="2605278" cy="51435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28650" y="1581150"/>
                <a:ext cx="457200" cy="457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09051" y="1730692"/>
                <a:ext cx="963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19200" y="160020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23010" y="1851660"/>
                <a:ext cx="20109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定位 · 用户 · 技术栈全景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28650" y="2295525"/>
              <a:ext cx="3183636" cy="514350"/>
              <a:chOff x="628650" y="2295525"/>
              <a:chExt cx="3183636" cy="51435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628650" y="2295525"/>
                <a:ext cx="457200" cy="457200"/>
              </a:xfrm>
              <a:prstGeom prst="ellipse">
                <a:avLst/>
              </a:prstGeom>
              <a:solidFill>
                <a:srgbClr val="4A90D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83173" y="24450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19200" y="2314575"/>
                <a:ext cx="11882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可行性分析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23010" y="2566035"/>
                <a:ext cx="25892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技术 · 经济 · 操作 · 法律 · 时间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28650" y="3009900"/>
              <a:ext cx="2780538" cy="514350"/>
              <a:chOff x="628650" y="3009900"/>
              <a:chExt cx="2780538" cy="51435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28650" y="3009900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3173" y="3159442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19200" y="302895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需求规格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23010" y="3280410"/>
                <a:ext cx="218617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功能 · 非功能 · 用例与验收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28650" y="3724275"/>
              <a:ext cx="2982087" cy="514350"/>
              <a:chOff x="628650" y="3724275"/>
              <a:chExt cx="2982087" cy="5143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28650" y="3724275"/>
                <a:ext cx="457200" cy="457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83173" y="387381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9200" y="374332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系统设计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23010" y="3994785"/>
                <a:ext cx="23877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架构 · 模块 · 状态 · 降级路径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" y="4438650"/>
              <a:ext cx="2982087" cy="514350"/>
              <a:chOff x="628650" y="4438650"/>
              <a:chExt cx="2982087" cy="5143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628650" y="4438650"/>
                <a:ext cx="457200" cy="457200"/>
              </a:xfrm>
              <a:prstGeom prst="ellipse">
                <a:avLst/>
              </a:prstGeom>
              <a:solidFill>
                <a:srgbClr val="4A90D9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83173" y="4588192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19200" y="4457700"/>
                <a:ext cx="14182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关键技术实现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23010" y="4709160"/>
                <a:ext cx="23877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颜色科学 · 印前检查 · AI 顾问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8650" y="5153025"/>
              <a:ext cx="2710434" cy="514350"/>
              <a:chOff x="628650" y="5153025"/>
              <a:chExt cx="2710434" cy="5143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28650" y="5153025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83173" y="53025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19200" y="5172075"/>
                <a:ext cx="11882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测试与发布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223010" y="5423535"/>
                <a:ext cx="211607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60+ 单元 · E2E · 构建发布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8096250" y="1714500"/>
            <a:ext cx="3333750" cy="4000500"/>
            <a:chOff x="8096250" y="1714500"/>
            <a:chExt cx="3333750" cy="4000500"/>
          </a:xfrm>
        </p:grpSpPr>
        <p:sp>
          <p:nvSpPr>
            <p:cNvPr id="38" name="Freeform 38"/>
            <p:cNvSpPr/>
            <p:nvPr/>
          </p:nvSpPr>
          <p:spPr>
            <a:xfrm>
              <a:off x="8096250" y="1714500"/>
              <a:ext cx="3333750" cy="4000500"/>
            </a:xfrm>
            <a:custGeom>
              <a:avLst/>
              <a:gdLst/>
              <a:ahLst/>
              <a:cxnLst/>
              <a:rect l="l" t="t" r="r" b="b"/>
              <a:pathLst>
                <a:path w="3333750" h="4000500">
                  <a:moveTo>
                    <a:pt x="152400" y="0"/>
                  </a:moveTo>
                  <a:lnTo>
                    <a:pt x="3181350" y="0"/>
                  </a:lnTo>
                  <a:cubicBezTo>
                    <a:pt x="3265518" y="0"/>
                    <a:pt x="3333750" y="68232"/>
                    <a:pt x="3333750" y="152400"/>
                  </a:cubicBezTo>
                  <a:lnTo>
                    <a:pt x="3333750" y="3848100"/>
                  </a:lnTo>
                  <a:cubicBezTo>
                    <a:pt x="3333750" y="3932268"/>
                    <a:pt x="3265518" y="4000500"/>
                    <a:pt x="3181350" y="4000500"/>
                  </a:cubicBezTo>
                  <a:lnTo>
                    <a:pt x="152400" y="4000500"/>
                  </a:lnTo>
                  <a:cubicBezTo>
                    <a:pt x="68232" y="4000500"/>
                    <a:pt x="0" y="3932268"/>
                    <a:pt x="0" y="3848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66730" y="193452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项目度量速览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477250" y="2238375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63915" y="2553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项目版本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43377" y="2505075"/>
              <a:ext cx="6246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v1.1.1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3915" y="298227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源文档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04397" y="2933700"/>
              <a:ext cx="46365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5 份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3915" y="34109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功能模块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43377" y="3362325"/>
              <a:ext cx="6246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4 + AI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63915" y="3839528"/>
              <a:ext cx="594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IPC 通道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04397" y="3790950"/>
              <a:ext cx="46365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7 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63915" y="4268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单元测试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50403" y="421957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60+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3915" y="4696778"/>
              <a:ext cx="6324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E2E 用例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76918" y="4648200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3+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63915" y="5125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授权协议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61904" y="5076825"/>
              <a:ext cx="4061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MIT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867972" y="65065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D97757">
                  <a:alpha val="25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4A90D9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D97757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927878" y="1047750"/>
            <a:ext cx="2336244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46992" y="2632710"/>
            <a:ext cx="8980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SECTION 01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946142" y="34213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项目概述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92925" y="4203382"/>
            <a:ext cx="50061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Project Overview · 定位、用户、技术栈全景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67972" y="64589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698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PROJECT OVERVIEW ·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65263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PrintBridge 是"屏幕 → 印刷"之间的桥接工具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5209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用单文件桌面应用,把分散的色彩管理与印前知识集成到统一工作流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桌面桥接工具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9259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Bridge Screen &amp; Print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240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Electron + React + TS 单文件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23781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Windows 优先 · 跨平台可移植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无需服务端,本地运行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751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离线优先,DeepSeek 可选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2585" y="5227320"/>
              <a:ext cx="581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DESKTOP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学习导向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13094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Learn by Doing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962" y="3640931"/>
              <a:ext cx="1786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5 大模块覆盖完整链路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879056"/>
              <a:ext cx="1753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导入→分析→预览→检查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31577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从理论到实践的桥梁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534852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知识中心 + 案例 + 测验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66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3928" y="5227320"/>
              <a:ext cx="699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EDUCATION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3" name="Freeform 33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28698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启发式近似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010" y="3185160"/>
              <a:ext cx="2477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Heuristic, Not Press-grade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2962" y="3640931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软打样为近似预览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962" y="3879056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印前检查为启发式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43157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非生产级 prepress 工具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45348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最终输出以印厂为准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77250" y="5143500"/>
              <a:ext cx="1143000" cy="266700"/>
            </a:xfrm>
            <a:custGeom>
              <a:avLst/>
              <a:gdLst/>
              <a:ahLst/>
              <a:cxnLst/>
              <a:rect l="l" t="t" r="r" b="b"/>
              <a:pathLst>
                <a:path w="1143000" h="266700">
                  <a:moveTo>
                    <a:pt x="133350" y="0"/>
                  </a:moveTo>
                  <a:lnTo>
                    <a:pt x="1009650" y="0"/>
                  </a:lnTo>
                  <a:cubicBezTo>
                    <a:pt x="1083297" y="0"/>
                    <a:pt x="1143000" y="59703"/>
                    <a:pt x="1143000" y="133350"/>
                  </a:cubicBezTo>
                  <a:lnTo>
                    <a:pt x="1143000" y="133350"/>
                  </a:lnTo>
                  <a:cubicBezTo>
                    <a:pt x="1143000" y="206997"/>
                    <a:pt x="1083297" y="266700"/>
                    <a:pt x="1009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09467" y="5227320"/>
              <a:ext cx="8785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APPROXIMATE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PROJECT OVERVIEW ·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8983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三类用户场景 · 从课程到实战的统一入口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8073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同一应用,服务学生、入门设计师、教师三类角色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598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学生 / 学习者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7050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设计·传媒·印刷专业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理解色彩管理基础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掌握印前检查流程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知识中心 + 测验巩固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案例库覆盖典型场景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837" y="5227320"/>
              <a:ext cx="547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PRIMARY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设计入门者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偶尔做印刷品的非专业用户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962" y="3640931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快速获得 ICC 建议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87905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一键软打样预览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31577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无需精通色彩科学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534852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AI 顾问 + 模板化建议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66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04342" y="5227320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CASUAL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3" name="Freeform 33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2869882"/>
              <a:ext cx="1345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教师 / 讲师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010" y="31851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课堂演示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2962" y="364093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案例库 + 互动演示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962" y="387905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测验题巩固理解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431577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可作为课程演示素材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45348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开源可二次开发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7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24630" y="5227320"/>
              <a:ext cx="6577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EDUCATOR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PROJECT OVERVIEW ·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9949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三层技术栈全景 · 桌面 + 前端 + 颜色科学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64537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Electron 提供容器,React/TS 提供体验,chroma-js/lcms/utif 提供专业色彩能力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桌面框架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4566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Electron 28.3.3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2074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Chromium 内核 + Node.js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2213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Main / Preload / Renderer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contextIsolation 安全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electron-builder 打包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1143000" cy="266700"/>
            </a:xfrm>
            <a:custGeom>
              <a:avLst/>
              <a:gdLst/>
              <a:ahLst/>
              <a:cxnLst/>
              <a:rect l="l" t="t" r="r" b="b"/>
              <a:pathLst>
                <a:path w="1143000" h="266700">
                  <a:moveTo>
                    <a:pt x="133350" y="0"/>
                  </a:moveTo>
                  <a:lnTo>
                    <a:pt x="1009650" y="0"/>
                  </a:lnTo>
                  <a:cubicBezTo>
                    <a:pt x="1083297" y="0"/>
                    <a:pt x="1143000" y="59703"/>
                    <a:pt x="1143000" y="133350"/>
                  </a:cubicBezTo>
                  <a:lnTo>
                    <a:pt x="1143000" y="133350"/>
                  </a:lnTo>
                  <a:cubicBezTo>
                    <a:pt x="1143000" y="206997"/>
                    <a:pt x="1083297" y="266700"/>
                    <a:pt x="1009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9178" y="5227320"/>
              <a:ext cx="699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CONTAINER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前端栈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2247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React 18 · TS 5.9 · Vite 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962" y="3640931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函数组件 + Hooks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879056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Zustand + Ant Design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315778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zustand/persist 持久化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534852"/>
              <a:ext cx="1353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strict TS + ESLint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66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14630" y="5227320"/>
              <a:ext cx="6577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FRONTEND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3" name="Freeform 33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颜色科学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010" y="3185160"/>
              <a:ext cx="26896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chroma-js · lcms-wasm · utif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2962" y="3640931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RGB ↔ LAB ↔ CMYK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962" y="3879056"/>
              <a:ext cx="1433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ICC 配置文件解析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4315778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TIFF 浏览器侧解码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4534852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ΔE2000 / 纸类型 gamut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77250" y="5143500"/>
              <a:ext cx="1333500" cy="266700"/>
            </a:xfrm>
            <a:custGeom>
              <a:avLst/>
              <a:gdLst/>
              <a:ahLst/>
              <a:cxnLst/>
              <a:rect l="l" t="t" r="r" b="b"/>
              <a:pathLst>
                <a:path w="1333500" h="266700">
                  <a:moveTo>
                    <a:pt x="133350" y="0"/>
                  </a:moveTo>
                  <a:lnTo>
                    <a:pt x="1200150" y="0"/>
                  </a:lnTo>
                  <a:cubicBezTo>
                    <a:pt x="1273797" y="0"/>
                    <a:pt x="1333500" y="59703"/>
                    <a:pt x="1333500" y="133350"/>
                  </a:cubicBezTo>
                  <a:lnTo>
                    <a:pt x="1333500" y="133350"/>
                  </a:lnTo>
                  <a:cubicBezTo>
                    <a:pt x="1333500" y="206997"/>
                    <a:pt x="1273797" y="266700"/>
                    <a:pt x="1200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46059" y="5227320"/>
              <a:ext cx="995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COLOR SCIENCE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D97757">
                  <a:alpha val="25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10B981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D97757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0342" y="10477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084" y="2632710"/>
            <a:ext cx="9418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SECTION 02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70108" y="3421380"/>
            <a:ext cx="2851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可行性分析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76041" y="4203382"/>
            <a:ext cx="54399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Feasibility · 技术·经济·操作·法律·时间五维论证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67972" y="64589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1461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FEASIBILITY ·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432037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五维可行性 · 全部"可行"绿灯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9387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技术、经济、操作、法律、时间 五个维度齐亮绿灯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技术可行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208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Tech Feasible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2238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Electron + React + TS 成熟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24110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chroma-js / lcms-wasm 完备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三层降级路径覆盖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采样代替全像素,性能可控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5001" y="52273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$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经济可行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Cost-zero Stack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962" y="3640931"/>
              <a:ext cx="19673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MIT/Apache/BSD 全开源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879056"/>
              <a:ext cx="21809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DeepSeek 可选,无强制成本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315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学习收益显著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5348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可作为后续项目模板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60911" y="5227320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$0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3" name="Freeform 33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法律可行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010" y="3185160"/>
              <a:ext cx="15670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License &amp; Privacy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2962" y="3640931"/>
              <a:ext cx="13923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MIT 协议,可商用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962" y="3879056"/>
              <a:ext cx="1359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无 GPL 传染风险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4315778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本地应用,无数据上传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4534852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DeepSeek 由用户自行开启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95001" y="52273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184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FEASIBILITY ·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2542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关键风险已识别 · 三层降级路径兜底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48851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ICC 引擎、AI 调用、路径安全 — 三大风险均有兜底,UI 明确提示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9649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lcms-wasm 失败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677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ICC Engine Fallback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18030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status → 'degraded'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1688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自动降级到 LAB 转换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UI 显示降级提示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不阻塞用户主流程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18432" y="5227320"/>
              <a:ext cx="630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FALLBACK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24877" y="2279332"/>
              <a:ext cx="2467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AI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17372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DeepSeek 失败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1677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AI Service Fallback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962" y="3640931"/>
              <a:ext cx="2386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catch error → console.warn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87905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内置规则集兜底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315778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source 标记为 'rule-based'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534852"/>
              <a:ext cx="1207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confidence: low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66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28432" y="5227320"/>
              <a:ext cx="630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FALLBACK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3" name="Freeform 33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28698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路径遍历攻击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010" y="3185160"/>
              <a:ext cx="2073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Path Traversal Blocked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2962" y="3640931"/>
              <a:ext cx="1622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主进程 fs:readFile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962" y="3879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拒绝 `..` `~` `$` 路径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4315778"/>
              <a:ext cx="1767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contextIsolation 双保险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4534852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nodeIntegration: false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43245" y="5227320"/>
              <a:ext cx="4300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BLOCK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867972" y="636365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D97757">
                  <a:alpha val="25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4A90D9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10B981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0342" y="10477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084" y="2632710"/>
            <a:ext cx="9418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SECTION 03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946142" y="34213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需求规格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60385" y="4203382"/>
            <a:ext cx="52712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Requirements · 功能、非功能、用例与验收准则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44969" y="645890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3685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REQUIREMENTS ·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5763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四大功能模块 · 覆盖完整色彩管理链路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202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从导入到检查,从屏幕到印刷,功能全闭环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1679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Color Lab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颜色实验室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F1.1 图像导入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2024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F1.2 颜色分析(5×5 采样)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F1.3 软打样预览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912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F1.4 导出 PNG/JPEG/TIFF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2253" y="5227320"/>
              <a:ext cx="2919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F1.*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Cross-Media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跨媒介预览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962" y="3640931"/>
              <a:ext cx="1195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F2.1 并排对比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8790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F2.2 叠加对比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315778"/>
              <a:ext cx="1460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F2.3 观察条件模拟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534852"/>
              <a:ext cx="1544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光源·纸张·距离·DPI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85001" y="52273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F2.*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3" name="Freeform 33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2869882"/>
              <a:ext cx="1724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Print Adapter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010" y="31851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智能印前适配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2962" y="3640931"/>
              <a:ext cx="1359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F3.1 启发式检查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962" y="38790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F3.2 问题清单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431577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F3.3 修复向导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4534852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分辨率·色域·出血·色彩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95001" y="52273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F3.*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864138" y="63636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406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REQUIREMENTS ·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6085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非功能需求 · 性能·可靠性·安全三件套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27031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SLA 量化 · 降级路径 · 攻击面控制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3197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性能 NFR-P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5394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Performance SLA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冷启动 ≤ 5 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1540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5×5 采样 ≤ 200 ms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4145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印前检查(4K) ≤ 1s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Worker 异步,不阻塞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2956" y="5227320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SLA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15727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可靠性 NFR-R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9137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Reliability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962" y="3640931"/>
              <a:ext cx="1614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ICC 引擎 → LAB 转换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879056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DeepSeek → 规则建议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315778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ErrorBoundary 兜底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5348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三层降级路径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22956" y="5227320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99%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3" name="Freeform 33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2869882"/>
              <a:ext cx="13197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安全 NFR-S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010" y="3185160"/>
              <a:ext cx="7941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Security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2962" y="3640931"/>
              <a:ext cx="1992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contextIsolation: true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962" y="3879056"/>
              <a:ext cx="1992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nodeIntegration: false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4315778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路径校验 .. ~ $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45348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最小 API 暴露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95001" y="52273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SAFE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844969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406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REQUIREMENTS ·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2059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用例与验收准则 · 5 用例 + 9 验收点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1062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覆盖主流程与降级路径,可作为发布门禁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5221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5 大核心用例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208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UC-01 ~ UC-05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1449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UC-01 导入并分析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13265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UC-02 印前检查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UC-03 跨媒介对比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UC-04 项目保存/加载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4744402"/>
              <a:ext cx="1107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UC-05 AI 顾问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3596" y="5227320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UC × 5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6295" y="2869882"/>
              <a:ext cx="15221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9 条验收准则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010" y="3185160"/>
              <a:ext cx="1208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AC-01 ~ AC-09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640931"/>
              <a:ext cx="1614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AC-01 四模块可启动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2962" y="3879056"/>
              <a:ext cx="1655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AC-02 完整流程贯通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315778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AC-04 降级不崩溃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3915" y="4534852"/>
              <a:ext cx="14145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AC-05 AI 回退可用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3915" y="4744402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AC-08 双语全覆盖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43596" y="5227320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AC × 9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5" name="Freeform 3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5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变更控制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010" y="3185160"/>
              <a:ext cx="12634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Baseline 1.0.0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2962" y="364093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架构变更 → 评审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2962" y="3879056"/>
              <a:ext cx="1293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公共 API → 评审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3915" y="431577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版本号递增管理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3915" y="45348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附录 A 变更日志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12253" y="5227320"/>
              <a:ext cx="2919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v1.x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844969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D97757">
                  <a:alpha val="25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D97757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4A90D9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0342" y="10477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084" y="2632710"/>
            <a:ext cx="9418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SECTION 04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946142" y="34213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系统设计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44729" y="4203382"/>
            <a:ext cx="51025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System Design · 架构、模块、状态、降级路径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44969" y="645890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SYSTEM DESIGN ·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4475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Electron 三层架构 · 严格分层 + 安全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7722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Main 管资源 / Preload 做桥 / Renderer 做交互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1919" y="2295525"/>
              <a:ext cx="5326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MAIN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主进程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2284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Node.js · BrowserWindow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创建窗口与菜单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1860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ipcMain.handle 7 通道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文件 I/O (fs/promises)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路径校验 .. ~ $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95641" y="5227320"/>
              <a:ext cx="485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LAYER 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1878" y="2311718"/>
              <a:ext cx="8727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PRELOAD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安全桥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17694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contextBridge · IPC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962" y="3640931"/>
              <a:ext cx="14580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暴露 6 个最小 API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3879056"/>
              <a:ext cx="1992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contextIsolation: true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315778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menu 事件统一解绑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534852"/>
              <a:ext cx="12381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错误兜底 catch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88389" y="5227320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LAYER 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3" name="Freeform 33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85648" y="2311718"/>
              <a:ext cx="9452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RENDERER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渲染进程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010" y="3185160"/>
              <a:ext cx="16682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React 18 · Zustand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2962" y="3640931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UI 组件树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962" y="3879056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Service 层调用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4315778"/>
              <a:ext cx="1406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Zustand 状态分区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4534852"/>
              <a:ext cx="1199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Worker 重计算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98389" y="5227320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LAYER 3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844969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SYSTEM DESIGN ·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462631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数据流与状态 · Store 边界清晰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5794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4 个 Zustand store · partialize 控制持久化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状态分区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7941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4 Stores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3640931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useProjectStore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3879056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useColorStore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315778"/>
              <a:ext cx="12841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useThemeStore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534852"/>
              <a:ext cx="1299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useLocaleStore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0208" y="5227320"/>
              <a:ext cx="216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× 4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0" name="Freeform 20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8698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导入数据流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010" y="3185160"/>
              <a:ext cx="13554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Import Pipeline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3915" y="3649028"/>
              <a:ext cx="10234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User 选择文件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3915" y="3887152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↓ window.electronAPI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4125278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↓ ipcRenderer.invoke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363402"/>
              <a:ext cx="18362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↓ dialog.showOpenDialog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3915" y="4601528"/>
              <a:ext cx="19895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↓ fs.readFile → Uint8Array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3915" y="483965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↓ ImageData → Store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57398" y="5227320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FLOW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5" name="Freeform 3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56295" y="28698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持久化裁剪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010" y="3185160"/>
              <a:ext cx="904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partialize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2962" y="3640931"/>
              <a:ext cx="1531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排除 imageBuffer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2962" y="3879056"/>
              <a:ext cx="18030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排除 processedImage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3915" y="4315778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仅持久化轻量字段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3915" y="453485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防 localStorage 爆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47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90251" y="5227320"/>
              <a:ext cx="3264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SAFE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844969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SYSTEM DESIGN ·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456190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IPC 与安全 · 白名单 + 路径校验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4831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7 条 IPC 通道 · 6 个最小 API · 攻击面最小化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5221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7 条 IPC 通道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1070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IPC Channels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3649028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dialog:openFile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386810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dialog:saveFile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087178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fs:readFile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306252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image:process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4525328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project:load / save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474440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menu:&lt;action&gt; × 4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0208" y="5227320"/>
              <a:ext cx="216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× 7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2" name="Freeform 22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6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6295" y="2869882"/>
              <a:ext cx="14462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6 个最小 API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010" y="3185160"/>
              <a:ext cx="1787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window.electronAPI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36490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openFile(options?)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3868102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saveFile(data, opt?)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3915" y="4087178"/>
              <a:ext cx="15218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readFile(filePath)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3915" y="4306252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processImage(buf, opt)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53915" y="4525328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loadProject / saveProject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53915" y="4744402"/>
              <a:ext cx="1498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onMenuAction(cb)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15930" y="5227320"/>
              <a:ext cx="66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WHITELIST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7" name="Freeform 37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71025" y="2279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6295" y="28698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攻击面控制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2010" y="3185160"/>
              <a:ext cx="14014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Attack Surface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2962" y="3640931"/>
              <a:ext cx="1992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contextIsolation: true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2962" y="3879056"/>
              <a:ext cx="1992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nodeIntegration: false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3915" y="4315778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路径校验 .. ~ $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3915" y="4534852"/>
              <a:ext cx="962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无 GPL 传染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63915" y="4744402"/>
              <a:ext cx="11921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API catch 兜底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43245" y="5227320"/>
              <a:ext cx="4300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BLOCK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844969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D97757">
                  <a:alpha val="25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10B981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4A90D9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0342" y="10477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084" y="2632710"/>
            <a:ext cx="9418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SECTION 05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073" y="3421380"/>
            <a:ext cx="340385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关键技术实现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95304" y="4203382"/>
            <a:ext cx="58013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Key Implementation · 颜色科学 · 印前检查 · AI 顾问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44969" y="645890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9621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KEY IMPL ·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5119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颜色科学实现 · LAB 中间 + ICC 工作流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48150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RGB↔CMYK 经 LAB 中转 · 纸类型 gamut clamp · ΔE2000 度量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166" y="2295525"/>
              <a:ext cx="590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CMYK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3576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RGB ↔ CMYK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5486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LAB Intermediate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3649028"/>
              <a:ext cx="8854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1. RGB → LAB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3868102"/>
              <a:ext cx="18362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2. clamp to paper gamut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08717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3. LAB → RGB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30625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4. K-based CMYK 公式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4525328"/>
              <a:ext cx="21275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5. 墨水限制 (1.0/0.95/0.85)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474440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6. clamp [0, 100] 四舍五入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253" y="5227320"/>
              <a:ext cx="2919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PIPE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2" name="Freeform 22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868180" y="2295525"/>
              <a:ext cx="3601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ICC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6295" y="2869882"/>
              <a:ext cx="12311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ICC 工作流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010" y="3185160"/>
              <a:ext cx="10058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lcms-wasm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3649028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sRGB · Adobe RGB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3868102"/>
              <a:ext cx="1330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Coated FOGRA39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3915" y="4087178"/>
              <a:ext cx="1498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Uncoated FOGRA29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3915" y="4306252"/>
              <a:ext cx="1353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Japan Color 2001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53915" y="4525328"/>
              <a:ext cx="10004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GRACoL2006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53915" y="4744402"/>
              <a:ext cx="17212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INTENT_PERCEPTUAL=0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15930" y="5227320"/>
              <a:ext cx="66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5 PROFILE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7" name="Freeform 37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12684" y="22955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ΔE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6295" y="2869882"/>
              <a:ext cx="14588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ΔE2000 度量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2010" y="3185160"/>
              <a:ext cx="1475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Visual Color Diff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2962" y="3640931"/>
              <a:ext cx="21974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chroma.deltaE(hex, hex)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2962" y="3879056"/>
              <a:ext cx="1310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ΔE &lt; 3 → 色域内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3915" y="4315778"/>
              <a:ext cx="1107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ΔE 3~5 → 边缘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3915" y="4534852"/>
              <a:ext cx="13761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ΔE &gt; 5 → 明显色差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98389" y="5227320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CIE2000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844969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0004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KEY IMPL ·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57212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印前检查 + AI 顾问 · 启发式 + 智能兜底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48939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4 维度启发式检查 · 100−30e−10w 评分 · DeepSeek + 规则回退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9426" y="229552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CHK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启发式检查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1438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4 Dimensions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364902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分辨率 (≥ 300 DPI)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3868102"/>
              <a:ext cx="14145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色域风险 (ΔE &gt; 3)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087178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出血 (边缘方差 &gt; 10)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30625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色彩流程 (RGB/灰度)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4525328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字体未嵌入(预留)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50911" y="5227320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4D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1" name="Freeform 21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25742" y="2311718"/>
              <a:ext cx="6450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SCORE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评分公式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2010" y="3185160"/>
              <a:ext cx="1291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Score Formula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3915" y="3649028"/>
              <a:ext cx="11614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score = max(0,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386810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100 − 30 × error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4087178"/>
              <a:ext cx="11308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− 10 × warning)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3915" y="4525328"/>
              <a:ext cx="18592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canPrint = (error === 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3915" y="474440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3 类 confidence / 3 类 category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64298" y="5227320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0–100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5" name="Freeform 3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41438" y="2295525"/>
              <a:ext cx="233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AI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56295" y="2869882"/>
              <a:ext cx="8389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AI 顾问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010" y="3185160"/>
              <a:ext cx="20179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DeepSeek + Rule-based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3915" y="3649028"/>
              <a:ext cx="20969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有 apiKey → deepseek-chat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3915" y="3868102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无 apiKey → 规则建议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3915" y="4087178"/>
              <a:ext cx="1498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temperature: 0.3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3915" y="43062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source: 'deepseek'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3915" y="4525328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or 'rule-based'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3915" y="4744402"/>
              <a:ext cx="25876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5 目标用途 general/magazine/...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847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38432" y="5227320"/>
              <a:ext cx="630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FALLBACK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825800" y="63636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D97757">
                  <a:alpha val="25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D97757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10B981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0342" y="10477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084" y="2632710"/>
            <a:ext cx="9418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SECTION 06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70108" y="3421380"/>
            <a:ext cx="2851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测试与发布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65220" y="4203382"/>
            <a:ext cx="48615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Test &amp; Release · 60+ 单元 · E2E · 构建发布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44969" y="645890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TEST &amp; RELEASE ·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61076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测试体系 · Vitest 单元 + Playwright E2E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894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60+ 单元覆盖核心服务 · E2E 验证主流程与快捷键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9255" y="2311718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UNIT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单元测试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Vitest · jsdom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36490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color-convert (12)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3868102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color-engine (8)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08717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print-checker (12)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3062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image-processor (5)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4525328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ai-color-advisor (10)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4744402"/>
              <a:ext cx="25416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project-session + store + hooks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2956" y="5227320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60+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2" name="Freeform 22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860309" y="23117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E2E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6295" y="28698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端到端测试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010" y="3185160"/>
              <a:ext cx="2036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Playwright · Chromium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3915" y="36490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E2E-01 加载 Color Lab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3915" y="3868102"/>
              <a:ext cx="18285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E2E-02 Ctrl+1/2/3 切换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3915" y="4087178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E2E-03 反复切换可用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3915" y="430625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E2E-04 刷新预览可见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53915" y="45253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E2E-05 Run checks 可见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53915" y="4744402"/>
              <a:ext cx="18975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fixtures: PNG/JPG/TIFF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60911" y="5227320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3+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7" name="Freeform 37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49606" y="2311718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COV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6295" y="28698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覆盖率目标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2010" y="318516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Coverage Target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2962" y="3640931"/>
              <a:ext cx="1630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color-engine ≥ 80%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2962" y="3879056"/>
              <a:ext cx="1762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print-checker ≥ 80%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3915" y="43157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image-processor ≥ 80%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3915" y="4534852"/>
              <a:ext cx="16445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color-convert ≥ 80%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63915" y="4744402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test:coverage 脚本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847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74298" y="5227320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≥ 80%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825800" y="63636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TEST &amp; RELEASE ·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725805"/>
            <a:ext cx="46102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发布与质量门 · 任一失败即阻断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36495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静态检查 → 单元 → E2E → 构建,全绿才允许发布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4875" y="2047875"/>
              <a:ext cx="666750" cy="666750"/>
            </a:xfrm>
            <a:prstGeom prst="ellipse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5484" y="2311718"/>
              <a:ext cx="3655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WIN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构建产物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85160"/>
              <a:ext cx="151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electron-builder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3649028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Windows portable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3868102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Windows NSIS 安装包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4087178"/>
              <a:ext cx="19742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macOS dmg (x64+arm64)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306252"/>
              <a:ext cx="1567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icon.ico / icon.png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4525328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appId: com.printbridge.app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4744402"/>
              <a:ext cx="20969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productName: PrintBridge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1137" y="5227320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RELEASE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22" name="Freeform 22"/>
            <p:cNvSpPr/>
            <p:nvPr/>
          </p:nvSpPr>
          <p:spPr>
            <a:xfrm>
              <a:off x="438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8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714875" y="2047875"/>
              <a:ext cx="666750" cy="666750"/>
            </a:xfrm>
            <a:prstGeom prst="ellipse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860309" y="23117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REL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发布通路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010" y="3185160"/>
              <a:ext cx="1410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GitHub Releases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2962" y="3640931"/>
              <a:ext cx="1499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当前发布线 v1.1.0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2962" y="3879056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code base v1.1.1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3915" y="4315778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课程检查优先 Windows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3915" y="45348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便携版零安装摩擦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667250" y="51435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133350" y="0"/>
                  </a:moveTo>
                  <a:lnTo>
                    <a:pt x="628650" y="0"/>
                  </a:lnTo>
                  <a:cubicBezTo>
                    <a:pt x="702297" y="0"/>
                    <a:pt x="762000" y="59703"/>
                    <a:pt x="762000" y="133350"/>
                  </a:cubicBezTo>
                  <a:lnTo>
                    <a:pt x="762000" y="133350"/>
                  </a:lnTo>
                  <a:cubicBezTo>
                    <a:pt x="762000" y="206997"/>
                    <a:pt x="702297" y="266700"/>
                    <a:pt x="628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902253" y="5227320"/>
              <a:ext cx="2919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v1.x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5" name="Freeform 35"/>
            <p:cNvSpPr/>
            <p:nvPr/>
          </p:nvSpPr>
          <p:spPr>
            <a:xfrm>
              <a:off x="8191500" y="17145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886200"/>
                  </a:lnTo>
                  <a:cubicBezTo>
                    <a:pt x="3429000" y="3949326"/>
                    <a:pt x="3377826" y="4000500"/>
                    <a:pt x="331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F8FAFC"/>
                </a:gs>
              </a:gsLst>
              <a:lin ang="5400000" scaled="1"/>
            </a:gradFill>
            <a:ln w="9525">
              <a:solidFill>
                <a:srgbClr val="E2E8F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191500" y="1714500"/>
              <a:ext cx="3429000" cy="57150"/>
            </a:xfrm>
            <a:custGeom>
              <a:avLst/>
              <a:gdLst/>
              <a:ahLst/>
              <a:cxnLst/>
              <a:rect l="l" t="t" r="r" b="b"/>
              <a:pathLst>
                <a:path w="3429000" h="57150">
                  <a:moveTo>
                    <a:pt x="28575" y="0"/>
                  </a:moveTo>
                  <a:lnTo>
                    <a:pt x="3400425" y="0"/>
                  </a:lnTo>
                  <a:cubicBezTo>
                    <a:pt x="3416207" y="0"/>
                    <a:pt x="3429000" y="12793"/>
                    <a:pt x="3429000" y="28575"/>
                  </a:cubicBezTo>
                  <a:lnTo>
                    <a:pt x="3429000" y="28575"/>
                  </a:lnTo>
                  <a:cubicBezTo>
                    <a:pt x="3429000" y="44357"/>
                    <a:pt x="3416207" y="57150"/>
                    <a:pt x="340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524875" y="2047875"/>
              <a:ext cx="666750" cy="666750"/>
            </a:xfrm>
            <a:prstGeom prst="ellipse">
              <a:avLst/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13377" y="2311718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GATE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56295" y="2869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质量门禁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2010" y="3185160"/>
              <a:ext cx="11438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Quality Gate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2962" y="3640931"/>
              <a:ext cx="1121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npm run lint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62962" y="3879056"/>
              <a:ext cx="1564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· npm run test:run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3915" y="4315778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npx playwright test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3915" y="4534852"/>
              <a:ext cx="11308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· npm run build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3915" y="474440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任一失败 → 阻断发布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477250" y="5143500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38495" y="5227320"/>
              <a:ext cx="4300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BLOCK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825800" y="63636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476250" y="190500"/>
            <a:ext cx="4762500" cy="3429000"/>
          </a:xfrm>
          <a:prstGeom prst="ellipse">
            <a:avLst/>
          </a:prstGeom>
          <a:gradFill>
            <a:gsLst>
              <a:gs pos="0">
                <a:srgbClr val="4A90D9">
                  <a:alpha val="15000"/>
                </a:srgbClr>
              </a:gs>
              <a:gs pos="100000">
                <a:srgbClr val="4A90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6667500" y="2857500"/>
            <a:ext cx="5334000" cy="3810000"/>
          </a:xfrm>
          <a:prstGeom prst="ellipse">
            <a:avLst/>
          </a:prstGeom>
          <a:gradFill>
            <a:gsLst>
              <a:gs pos="0">
                <a:srgbClr val="D97757">
                  <a:alpha val="20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1428750" y="1111250"/>
            <a:ext cx="9366250" cy="4127500"/>
            <a:chOff x="1428750" y="1111250"/>
            <a:chExt cx="9366250" cy="4127500"/>
          </a:xfrm>
        </p:grpSpPr>
        <p:sp>
          <p:nvSpPr>
            <p:cNvPr id="12" name="Freeform 12"/>
            <p:cNvSpPr/>
            <p:nvPr/>
          </p:nvSpPr>
          <p:spPr>
            <a:xfrm>
              <a:off x="1428750" y="1111250"/>
              <a:ext cx="1905000" cy="603250"/>
            </a:xfrm>
            <a:custGeom>
              <a:avLst/>
              <a:gdLst/>
              <a:ahLst/>
              <a:cxnLst/>
              <a:rect l="l" t="t" r="r" b="b"/>
              <a:pathLst>
                <a:path w="1905000" h="603250">
                  <a:moveTo>
                    <a:pt x="0" y="317500"/>
                  </a:moveTo>
                  <a:cubicBezTo>
                    <a:pt x="635000" y="0"/>
                    <a:pt x="1270000" y="95250"/>
                    <a:pt x="1905000" y="60325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3750" y="1714500"/>
              <a:ext cx="539750" cy="1333500"/>
            </a:xfrm>
            <a:custGeom>
              <a:avLst/>
              <a:gdLst/>
              <a:ahLst/>
              <a:cxnLst/>
              <a:rect l="l" t="t" r="r" b="b"/>
              <a:pathLst>
                <a:path w="539750" h="1333500">
                  <a:moveTo>
                    <a:pt x="0" y="0"/>
                  </a:moveTo>
                  <a:cubicBezTo>
                    <a:pt x="444500" y="444500"/>
                    <a:pt x="539750" y="889000"/>
                    <a:pt x="285750" y="133350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048750" y="3492500"/>
              <a:ext cx="1428750" cy="508000"/>
            </a:xfrm>
            <a:custGeom>
              <a:avLst/>
              <a:gdLst/>
              <a:ahLst/>
              <a:cxnLst/>
              <a:rect l="l" t="t" r="r" b="b"/>
              <a:pathLst>
                <a:path w="1428750" h="508000">
                  <a:moveTo>
                    <a:pt x="0" y="317500"/>
                  </a:moveTo>
                  <a:cubicBezTo>
                    <a:pt x="635000" y="0"/>
                    <a:pt x="1111250" y="63500"/>
                    <a:pt x="1428750" y="50800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87000" y="4000500"/>
              <a:ext cx="508000" cy="1238250"/>
            </a:xfrm>
            <a:custGeom>
              <a:avLst/>
              <a:gdLst/>
              <a:ahLst/>
              <a:cxnLst/>
              <a:rect l="l" t="t" r="r" b="b"/>
              <a:pathLst>
                <a:path w="508000" h="1238250">
                  <a:moveTo>
                    <a:pt x="190500" y="0"/>
                  </a:moveTo>
                  <a:cubicBezTo>
                    <a:pt x="508000" y="508000"/>
                    <a:pt x="444500" y="920750"/>
                    <a:pt x="0" y="123825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381125" y="1381125"/>
            <a:ext cx="2276475" cy="1704975"/>
            <a:chOff x="1381125" y="1381125"/>
            <a:chExt cx="2276475" cy="1704975"/>
          </a:xfrm>
        </p:grpSpPr>
        <p:sp>
          <p:nvSpPr>
            <p:cNvPr id="17" name="Ellipse 17"/>
            <p:cNvSpPr/>
            <p:nvPr/>
          </p:nvSpPr>
          <p:spPr>
            <a:xfrm>
              <a:off x="1381125" y="1381125"/>
              <a:ext cx="95250" cy="9525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267075" y="1647825"/>
              <a:ext cx="133350" cy="13335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581400" y="3009900"/>
              <a:ext cx="76200" cy="7620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991600" y="3752850"/>
            <a:ext cx="1562100" cy="1533525"/>
            <a:chOff x="8991600" y="3752850"/>
            <a:chExt cx="1562100" cy="1533525"/>
          </a:xfrm>
        </p:grpSpPr>
        <p:sp>
          <p:nvSpPr>
            <p:cNvPr id="21" name="Ellipse 21"/>
            <p:cNvSpPr/>
            <p:nvPr/>
          </p:nvSpPr>
          <p:spPr>
            <a:xfrm>
              <a:off x="8991600" y="3752850"/>
              <a:ext cx="114300" cy="11430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01300" y="3924300"/>
              <a:ext cx="152400" cy="15240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239375" y="5191125"/>
              <a:ext cx="95250" cy="9525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5200078" y="2156460"/>
            <a:ext cx="17918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THANK YOU · 谢谢观看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00952" y="2531745"/>
            <a:ext cx="5990096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PrintBridge 介绍完毕</a:t>
            </a:r>
          </a:p>
        </p:txBody>
      </p:sp>
      <p:sp>
        <p:nvSpPr>
          <p:cNvPr id="27" name="Freeform 27"/>
          <p:cNvSpPr/>
          <p:nvPr/>
        </p:nvSpPr>
        <p:spPr>
          <a:xfrm>
            <a:off x="5143500" y="333375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634264" y="3743325"/>
            <a:ext cx="49234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"From screen to press — made approachable."</a:t>
            </a:r>
          </a:p>
        </p:txBody>
      </p:sp>
      <p:sp>
        <p:nvSpPr>
          <p:cNvPr id="29" name="Freeform 29"/>
          <p:cNvSpPr/>
          <p:nvPr/>
        </p:nvSpPr>
        <p:spPr>
          <a:xfrm>
            <a:off x="4191000" y="4381500"/>
            <a:ext cx="3810000" cy="1143000"/>
          </a:xfrm>
          <a:custGeom>
            <a:avLst/>
            <a:gdLst/>
            <a:ahLst/>
            <a:cxnLst/>
            <a:rect l="l" t="t" r="r" b="b"/>
            <a:pathLst>
              <a:path w="3810000" h="114300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1028700"/>
                </a:lnTo>
                <a:cubicBezTo>
                  <a:pt x="3810000" y="1091826"/>
                  <a:pt x="3758826" y="1143000"/>
                  <a:pt x="3695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224873" y="4664392"/>
            <a:ext cx="1742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PrintBridge Team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54882" y="498252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printbridge@example.dev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52332" y="5220652"/>
            <a:ext cx="26873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github.com/Takesen317/printbridge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58165" y="6363652"/>
            <a:ext cx="1054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 / 06 / 22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22534" y="6363652"/>
            <a:ext cx="2411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© 2026 PrintBridge ·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